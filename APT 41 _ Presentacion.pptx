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67" r:id="rId7"/>
    <p:sldId id="273" r:id="rId8"/>
    <p:sldId id="270" r:id="rId9"/>
    <p:sldId id="272" r:id="rId10"/>
    <p:sldId id="274" r:id="rId11"/>
    <p:sldId id="269" r:id="rId12"/>
    <p:sldId id="275" r:id="rId13"/>
    <p:sldId id="276" r:id="rId14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>
      <p:cViewPr>
        <p:scale>
          <a:sx n="60" d="100"/>
          <a:sy n="60" d="100"/>
        </p:scale>
        <p:origin x="912" y="14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095A5E99-E976-4550-8F80-53CC813F2F5A}">
      <dgm:prSet phldrT="[Text]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 rtlCol="0"/>
        <a:lstStyle/>
        <a:p>
          <a:pPr rtl="0"/>
          <a:r>
            <a:rPr lang="es-ES" noProof="0" dirty="0"/>
            <a:t>DLL </a:t>
          </a:r>
          <a:r>
            <a:rPr lang="es-ES" noProof="0" dirty="0" err="1"/>
            <a:t>PlusDrop</a:t>
          </a:r>
          <a:endParaRPr lang="es-ES" noProof="0" dirty="0"/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03339A0D-5DC0-4B29-8353-C5AEBFD4DE86}" type="parTrans" cxnId="{D1A4D8E6-F04E-4AB1-8D0C-63DC7AB1E81F}">
      <dgm:prSet/>
      <dgm:spPr/>
      <dgm:t>
        <a:bodyPr rtlCol="0"/>
        <a:lstStyle/>
        <a:p>
          <a:pPr rtl="0"/>
          <a:endParaRPr lang="en-US"/>
        </a:p>
      </dgm:t>
    </dgm:pt>
    <dgm:pt modelId="{8877691F-1B60-4485-9174-DDEC7EE68B70}" type="sibTrans" cxnId="{D1A4D8E6-F04E-4AB1-8D0C-63DC7AB1E81F}">
      <dgm:prSet/>
      <dgm:spPr/>
      <dgm:t>
        <a:bodyPr rtlCol="0"/>
        <a:lstStyle/>
        <a:p>
          <a:pPr rtl="0"/>
          <a:endParaRPr lang="en-US"/>
        </a:p>
      </dgm:t>
    </dgm:pt>
    <dgm:pt modelId="{8EC937D8-BD76-4A12-A3E5-900D5C1E2E05}">
      <dgm:prSet phldrT="[Text]"/>
      <dgm:spPr/>
      <dgm:t>
        <a:bodyPr rtlCol="0"/>
        <a:lstStyle/>
        <a:p>
          <a:pPr rtl="0"/>
          <a:r>
            <a:rPr lang="es-ES" noProof="0" dirty="0" err="1"/>
            <a:t>PlusInject</a:t>
          </a:r>
          <a:endParaRPr lang="es-ES" noProof="0" dirty="0"/>
        </a:p>
      </dgm:t>
    </dgm:pt>
    <dgm:pt modelId="{8265EE85-9851-494E-A6D3-1CDACE947DF3}" type="parTrans" cxnId="{43DC8383-AEE5-490C-A8E5-1F216F2B8FE6}">
      <dgm:prSet/>
      <dgm:spPr/>
      <dgm:t>
        <a:bodyPr rtlCol="0"/>
        <a:lstStyle/>
        <a:p>
          <a:pPr rtl="0"/>
          <a:endParaRPr lang="en-US"/>
        </a:p>
      </dgm:t>
    </dgm:pt>
    <dgm:pt modelId="{B3EFD4A5-9FA1-4ABE-B722-05162509509B}" type="sibTrans" cxnId="{43DC8383-AEE5-490C-A8E5-1F216F2B8FE6}">
      <dgm:prSet/>
      <dgm:spPr/>
      <dgm:t>
        <a:bodyPr rtlCol="0"/>
        <a:lstStyle/>
        <a:p>
          <a:pPr rtl="0"/>
          <a:endParaRPr lang="en-US"/>
        </a:p>
      </dgm:t>
    </dgm:pt>
    <dgm:pt modelId="{7133ECF5-4190-4604-AA2F-03C9A0A9210F}">
      <dgm:prSet phldrT="[Text]"/>
      <dgm:spPr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</a:gradFill>
      </dgm:spPr>
      <dgm:t>
        <a:bodyPr rtlCol="0"/>
        <a:lstStyle/>
        <a:p>
          <a:pPr rtl="0"/>
          <a:r>
            <a:rPr lang="es-ES" noProof="0" dirty="0" err="1"/>
            <a:t>ToughProgress</a:t>
          </a:r>
          <a:endParaRPr lang="es-ES" noProof="0" dirty="0"/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7D1B29D7-21DD-436A-8F7C-E87DE53C1431}" type="parTrans" cxnId="{011A9761-E983-4C7D-AB1D-2038261D8FF8}">
      <dgm:prSet/>
      <dgm:spPr/>
      <dgm:t>
        <a:bodyPr rtlCol="0"/>
        <a:lstStyle/>
        <a:p>
          <a:pPr rtl="0"/>
          <a:endParaRPr lang="en-US"/>
        </a:p>
      </dgm:t>
    </dgm:pt>
    <dgm:pt modelId="{46037378-034A-4662-877A-B53E1DA069A3}" type="sibTrans" cxnId="{011A9761-E983-4C7D-AB1D-2038261D8FF8}">
      <dgm:prSet/>
      <dgm:spPr/>
      <dgm:t>
        <a:bodyPr rtlCol="0"/>
        <a:lstStyle/>
        <a:p>
          <a:pPr rtl="0"/>
          <a:endParaRPr lang="en-US"/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  <dgm:pt modelId="{124EF20B-D98C-45B2-BB13-7B93B5373CEB}" type="pres">
      <dgm:prSet presAssocID="{CD7942A0-B7D2-4B14-8FEA-55FC702F5BE7}" presName="ThreeNodes_1" presStyleLbl="node1" presStyleIdx="0" presStyleCnt="3">
        <dgm:presLayoutVars>
          <dgm:bulletEnabled val="1"/>
        </dgm:presLayoutVars>
      </dgm:prSet>
      <dgm:spPr/>
    </dgm:pt>
    <dgm:pt modelId="{CA544AF7-F7B2-4CA5-9251-B4CDB8D06634}" type="pres">
      <dgm:prSet presAssocID="{CD7942A0-B7D2-4B14-8FEA-55FC702F5BE7}" presName="ThreeNodes_2" presStyleLbl="node1" presStyleIdx="1" presStyleCnt="3">
        <dgm:presLayoutVars>
          <dgm:bulletEnabled val="1"/>
        </dgm:presLayoutVars>
      </dgm:prSet>
      <dgm:spPr/>
    </dgm:pt>
    <dgm:pt modelId="{2AE92D3F-F0FA-45DD-BB60-4C6FBC6BC016}" type="pres">
      <dgm:prSet presAssocID="{CD7942A0-B7D2-4B14-8FEA-55FC702F5BE7}" presName="ThreeNodes_3" presStyleLbl="node1" presStyleIdx="2" presStyleCnt="3">
        <dgm:presLayoutVars>
          <dgm:bulletEnabled val="1"/>
        </dgm:presLayoutVars>
      </dgm:prSet>
      <dgm:spPr/>
    </dgm:pt>
    <dgm:pt modelId="{9CA877D8-99F8-40A0-89E9-59A61C9A70F4}" type="pres">
      <dgm:prSet presAssocID="{CD7942A0-B7D2-4B14-8FEA-55FC702F5BE7}" presName="ThreeConn_1-2" presStyleLbl="fgAccFollowNode1" presStyleIdx="0" presStyleCnt="2">
        <dgm:presLayoutVars>
          <dgm:bulletEnabled val="1"/>
        </dgm:presLayoutVars>
      </dgm:prSet>
      <dgm:spPr/>
    </dgm:pt>
    <dgm:pt modelId="{62643EF2-016C-41F1-8CBC-398422A85727}" type="pres">
      <dgm:prSet presAssocID="{CD7942A0-B7D2-4B14-8FEA-55FC702F5BE7}" presName="ThreeConn_2-3" presStyleLbl="fgAccFollowNode1" presStyleIdx="1" presStyleCnt="2">
        <dgm:presLayoutVars>
          <dgm:bulletEnabled val="1"/>
        </dgm:presLayoutVars>
      </dgm:prSet>
      <dgm:spPr/>
    </dgm:pt>
    <dgm:pt modelId="{7A2F6994-DA87-4497-BFC7-DD9D6EC5315F}" type="pres">
      <dgm:prSet presAssocID="{CD7942A0-B7D2-4B14-8FEA-55FC702F5BE7}" presName="ThreeNodes_1_text" presStyleLbl="node1" presStyleIdx="2" presStyleCnt="3">
        <dgm:presLayoutVars>
          <dgm:bulletEnabled val="1"/>
        </dgm:presLayoutVars>
      </dgm:prSet>
      <dgm:spPr/>
    </dgm:pt>
    <dgm:pt modelId="{916C48CB-E452-4B79-A9B9-4C9A90B47960}" type="pres">
      <dgm:prSet presAssocID="{CD7942A0-B7D2-4B14-8FEA-55FC702F5BE7}" presName="ThreeNodes_2_text" presStyleLbl="node1" presStyleIdx="2" presStyleCnt="3">
        <dgm:presLayoutVars>
          <dgm:bulletEnabled val="1"/>
        </dgm:presLayoutVars>
      </dgm:prSet>
      <dgm:spPr/>
    </dgm:pt>
    <dgm:pt modelId="{A31D264E-E285-4E5C-8EB7-762CD501BE72}" type="pres">
      <dgm:prSet presAssocID="{CD7942A0-B7D2-4B14-8FEA-55FC702F5BE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A89A138-BC1A-490F-935E-2EC3F74E8E18}" type="presOf" srcId="{7133ECF5-4190-4604-AA2F-03C9A0A9210F}" destId="{2AE92D3F-F0FA-45DD-BB60-4C6FBC6BC016}" srcOrd="0" destOrd="0" presId="urn:microsoft.com/office/officeart/2005/8/layout/vProcess5"/>
    <dgm:cxn modelId="{011A9761-E983-4C7D-AB1D-2038261D8FF8}" srcId="{CD7942A0-B7D2-4B14-8FEA-55FC702F5BE7}" destId="{7133ECF5-4190-4604-AA2F-03C9A0A9210F}" srcOrd="2" destOrd="0" parTransId="{7D1B29D7-21DD-436A-8F7C-E87DE53C1431}" sibTransId="{46037378-034A-4662-877A-B53E1DA069A3}"/>
    <dgm:cxn modelId="{8A063A46-8F8D-405A-B2D6-6495FA638F46}" type="presOf" srcId="{8EC937D8-BD76-4A12-A3E5-900D5C1E2E05}" destId="{CA544AF7-F7B2-4CA5-9251-B4CDB8D06634}" srcOrd="0" destOrd="0" presId="urn:microsoft.com/office/officeart/2005/8/layout/vProcess5"/>
    <dgm:cxn modelId="{A071614A-8A85-47B2-A113-0652CAB9B428}" type="presOf" srcId="{095A5E99-E976-4550-8F80-53CC813F2F5A}" destId="{124EF20B-D98C-45B2-BB13-7B93B5373CEB}" srcOrd="0" destOrd="0" presId="urn:microsoft.com/office/officeart/2005/8/layout/vProcess5"/>
    <dgm:cxn modelId="{43DC8383-AEE5-490C-A8E5-1F216F2B8FE6}" srcId="{CD7942A0-B7D2-4B14-8FEA-55FC702F5BE7}" destId="{8EC937D8-BD76-4A12-A3E5-900D5C1E2E05}" srcOrd="1" destOrd="0" parTransId="{8265EE85-9851-494E-A6D3-1CDACE947DF3}" sibTransId="{B3EFD4A5-9FA1-4ABE-B722-05162509509B}"/>
    <dgm:cxn modelId="{03E7038C-2CC0-496B-88A0-60396CDC31E4}" type="presOf" srcId="{7133ECF5-4190-4604-AA2F-03C9A0A9210F}" destId="{A31D264E-E285-4E5C-8EB7-762CD501BE72}" srcOrd="1" destOrd="0" presId="urn:microsoft.com/office/officeart/2005/8/layout/vProcess5"/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BB374C9D-646D-46E6-89B4-117F0E21BA34}" type="presOf" srcId="{8EC937D8-BD76-4A12-A3E5-900D5C1E2E05}" destId="{916C48CB-E452-4B79-A9B9-4C9A90B47960}" srcOrd="1" destOrd="0" presId="urn:microsoft.com/office/officeart/2005/8/layout/vProcess5"/>
    <dgm:cxn modelId="{12FC7FDE-4033-4970-A683-61DE6FA84E89}" type="presOf" srcId="{8877691F-1B60-4485-9174-DDEC7EE68B70}" destId="{9CA877D8-99F8-40A0-89E9-59A61C9A70F4}" srcOrd="0" destOrd="0" presId="urn:microsoft.com/office/officeart/2005/8/layout/vProcess5"/>
    <dgm:cxn modelId="{D1A4D8E6-F04E-4AB1-8D0C-63DC7AB1E81F}" srcId="{CD7942A0-B7D2-4B14-8FEA-55FC702F5BE7}" destId="{095A5E99-E976-4550-8F80-53CC813F2F5A}" srcOrd="0" destOrd="0" parTransId="{03339A0D-5DC0-4B29-8353-C5AEBFD4DE86}" sibTransId="{8877691F-1B60-4485-9174-DDEC7EE68B70}"/>
    <dgm:cxn modelId="{7C007CEB-6418-4EA7-9CB6-5B93D0C655E6}" type="presOf" srcId="{095A5E99-E976-4550-8F80-53CC813F2F5A}" destId="{7A2F6994-DA87-4497-BFC7-DD9D6EC5315F}" srcOrd="1" destOrd="0" presId="urn:microsoft.com/office/officeart/2005/8/layout/vProcess5"/>
    <dgm:cxn modelId="{6CF7D6F9-A5F2-48E3-AF5C-A2074559AE21}" type="presOf" srcId="{B3EFD4A5-9FA1-4ABE-B722-05162509509B}" destId="{62643EF2-016C-41F1-8CBC-398422A85727}" srcOrd="0" destOrd="0" presId="urn:microsoft.com/office/officeart/2005/8/layout/vProcess5"/>
    <dgm:cxn modelId="{768DB908-A4BF-48A6-A740-5DD0CBAFBB11}" type="presParOf" srcId="{1D84D8B6-AB32-4491-B5D2-EFE3D7668B88}" destId="{3E0E8213-E460-4EB7-9A92-C2B1CC553F0D}" srcOrd="0" destOrd="0" presId="urn:microsoft.com/office/officeart/2005/8/layout/vProcess5"/>
    <dgm:cxn modelId="{A8B17D3B-E670-4FE0-A845-244C702B8151}" type="presParOf" srcId="{1D84D8B6-AB32-4491-B5D2-EFE3D7668B88}" destId="{124EF20B-D98C-45B2-BB13-7B93B5373CEB}" srcOrd="1" destOrd="0" presId="urn:microsoft.com/office/officeart/2005/8/layout/vProcess5"/>
    <dgm:cxn modelId="{1E8E2D8B-A980-4080-A16E-1F74528DE4D0}" type="presParOf" srcId="{1D84D8B6-AB32-4491-B5D2-EFE3D7668B88}" destId="{CA544AF7-F7B2-4CA5-9251-B4CDB8D06634}" srcOrd="2" destOrd="0" presId="urn:microsoft.com/office/officeart/2005/8/layout/vProcess5"/>
    <dgm:cxn modelId="{7992440C-9F36-432D-90EE-E2A708CEB38B}" type="presParOf" srcId="{1D84D8B6-AB32-4491-B5D2-EFE3D7668B88}" destId="{2AE92D3F-F0FA-45DD-BB60-4C6FBC6BC016}" srcOrd="3" destOrd="0" presId="urn:microsoft.com/office/officeart/2005/8/layout/vProcess5"/>
    <dgm:cxn modelId="{DBE883B8-7D13-43BA-A456-8DBB93D30C93}" type="presParOf" srcId="{1D84D8B6-AB32-4491-B5D2-EFE3D7668B88}" destId="{9CA877D8-99F8-40A0-89E9-59A61C9A70F4}" srcOrd="4" destOrd="0" presId="urn:microsoft.com/office/officeart/2005/8/layout/vProcess5"/>
    <dgm:cxn modelId="{A3B9E6ED-FFD0-430E-B609-EBE8E75E7C44}" type="presParOf" srcId="{1D84D8B6-AB32-4491-B5D2-EFE3D7668B88}" destId="{62643EF2-016C-41F1-8CBC-398422A85727}" srcOrd="5" destOrd="0" presId="urn:microsoft.com/office/officeart/2005/8/layout/vProcess5"/>
    <dgm:cxn modelId="{278FE748-9C54-4E36-9203-E948DB63C99A}" type="presParOf" srcId="{1D84D8B6-AB32-4491-B5D2-EFE3D7668B88}" destId="{7A2F6994-DA87-4497-BFC7-DD9D6EC5315F}" srcOrd="6" destOrd="0" presId="urn:microsoft.com/office/officeart/2005/8/layout/vProcess5"/>
    <dgm:cxn modelId="{E81279B5-23BF-4F73-A353-8831FC04E9BC}" type="presParOf" srcId="{1D84D8B6-AB32-4491-B5D2-EFE3D7668B88}" destId="{916C48CB-E452-4B79-A9B9-4C9A90B47960}" srcOrd="7" destOrd="0" presId="urn:microsoft.com/office/officeart/2005/8/layout/vProcess5"/>
    <dgm:cxn modelId="{16289EC3-0C51-4B32-B6CC-FE8F7F6F6C76}" type="presParOf" srcId="{1D84D8B6-AB32-4491-B5D2-EFE3D7668B88}" destId="{A31D264E-E285-4E5C-8EB7-762CD501BE7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EF20B-D98C-45B2-BB13-7B93B5373CEB}">
      <dsp:nvSpPr>
        <dsp:cNvPr id="0" name=""/>
        <dsp:cNvSpPr/>
      </dsp:nvSpPr>
      <dsp:spPr>
        <a:xfrm>
          <a:off x="0" y="0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noProof="0" dirty="0"/>
            <a:t>DLL </a:t>
          </a:r>
          <a:r>
            <a:rPr lang="es-ES" sz="3600" kern="1200" noProof="0" dirty="0" err="1"/>
            <a:t>PlusDrop</a:t>
          </a:r>
          <a:endParaRPr lang="es-ES" sz="3600" kern="1200" noProof="0" dirty="0"/>
        </a:p>
      </dsp:txBody>
      <dsp:txXfrm>
        <a:off x="39238" y="39238"/>
        <a:ext cx="2871019" cy="1261215"/>
      </dsp:txXfrm>
    </dsp:sp>
    <dsp:sp modelId="{CA544AF7-F7B2-4CA5-9251-B4CDB8D06634}">
      <dsp:nvSpPr>
        <dsp:cNvPr id="0" name=""/>
        <dsp:cNvSpPr/>
      </dsp:nvSpPr>
      <dsp:spPr>
        <a:xfrm>
          <a:off x="380880" y="1562972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noProof="0" dirty="0" err="1"/>
            <a:t>PlusInject</a:t>
          </a:r>
          <a:endParaRPr lang="es-ES" sz="3600" kern="1200" noProof="0" dirty="0"/>
        </a:p>
      </dsp:txBody>
      <dsp:txXfrm>
        <a:off x="420118" y="1602210"/>
        <a:ext cx="2986494" cy="1261215"/>
      </dsp:txXfrm>
    </dsp:sp>
    <dsp:sp modelId="{2AE92D3F-F0FA-45DD-BB60-4C6FBC6BC016}">
      <dsp:nvSpPr>
        <dsp:cNvPr id="0" name=""/>
        <dsp:cNvSpPr/>
      </dsp:nvSpPr>
      <dsp:spPr>
        <a:xfrm>
          <a:off x="761761" y="3125945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noProof="0" dirty="0" err="1"/>
            <a:t>ToughProgress</a:t>
          </a:r>
          <a:endParaRPr lang="es-ES" sz="3600" kern="1200" noProof="0" dirty="0"/>
        </a:p>
      </dsp:txBody>
      <dsp:txXfrm>
        <a:off x="800999" y="3165183"/>
        <a:ext cx="2986494" cy="1261215"/>
      </dsp:txXfrm>
    </dsp:sp>
    <dsp:sp modelId="{9CA877D8-99F8-40A0-89E9-59A61C9A70F4}">
      <dsp:nvSpPr>
        <dsp:cNvPr id="0" name=""/>
        <dsp:cNvSpPr/>
      </dsp:nvSpPr>
      <dsp:spPr>
        <a:xfrm>
          <a:off x="3445850" y="1015932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rtlCol="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41780" y="1015932"/>
        <a:ext cx="478939" cy="655276"/>
      </dsp:txXfrm>
    </dsp:sp>
    <dsp:sp modelId="{62643EF2-016C-41F1-8CBC-398422A85727}">
      <dsp:nvSpPr>
        <dsp:cNvPr id="0" name=""/>
        <dsp:cNvSpPr/>
      </dsp:nvSpPr>
      <dsp:spPr>
        <a:xfrm>
          <a:off x="3826731" y="2569974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rtlCol="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022661" y="2569974"/>
        <a:ext cx="478939" cy="655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10/10/2026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34.3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2095 0,'-2069'0,"2043"0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0T00:57:36.3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1508 61 0,'-1508'-60'0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40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7086 0,'-3014'0,"2958"3,-60 10,-37 2,-356-14,243-3,-2680 2,2920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42.2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470 0,'-5'0,"-7"0,-11 0,-7 0,-3 0,-2 0,2 0,0 0,1 0,1 0,0 0,1 0,1 0,-1 0,1 0,0 0,4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43.0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293 0,'-5'0,"-6"0,-12 0,-7 0,-4 0,0 0,0 0,1 0,1 0,1 0,6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43.8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442 0,'-5'0,"-12"0,-12 0,-8 0,-6 0,-1 0,1 0,4 0,3 0,2 0,3 0,1 0,1 0,5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6:55.6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0,'2983'0,"-2958"0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6:59.9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0,'623'0,"-595"2,1 1,-1 1,53 16,-49-11,2-2,43 5,324-8,-212-6,3125 2,-3282 1,61 12,0 0,137-9,-166-5,-39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04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1,'6765'0,"-6740"0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09.3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1,'2897'0,"-2858"2,60 10,29 3,-108-13,-1 1,1 0,0 2,31 11,-29-8,-1-2,1 0,28 3,117 11,-93-12,1-3,100-6,-58-1,3310 2,-3401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7:14.3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3541 1,'-860'0,"830"1,-1 2,-34 8,-40 3,-7-14,-15 2,106 0,-30 9,32-6,0-2,-20 3,-56-5,63-2,0 2,0 0,-42 9,32-2,-1-2,-53 1,-88-8,68-1,-1174 2,1264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6:08.0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3157 0,'-3131'0,"3105"0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6:16.1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1,'2806'0,"-2781"0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6:20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1,'1684'0,"-1666"1,-1 1,0 0,18 6,-14-4,35 4,403-3,-257-7,2783 2,-2960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0:56:23.0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63,'11'1,"0"-2,1 0,-1 0,0-1,0 0,0-1,-1 0,1 0,-1-2,1 1,9-7,-10 6,1 1,-1 0,1 0,0 1,0 1,0 0,17-2,82 4,-61 2,1724 1,-937-5,201 2,-1012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31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38572-E241-D650-3265-DF5CABB7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8A51E0-93A5-08B4-9282-BE3A841A4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61B2C4-8923-B450-2935-0632B381A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E205BF-1FEA-8A4E-F3C6-F671DCF4A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1121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07CE-3ACC-B4BA-0729-1086B62B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BDF44A-9C5A-779F-AA1C-03C371C4A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D54875-50E2-DE03-AE22-35432526A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839276-F802-9422-13A1-084662980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1011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17587-84BF-8DBF-FB41-3DEA1F6A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D89FADE-8407-43B8-7408-B1268075E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D227E2-FC28-DF36-B083-4AF8BC6D6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9B0008-0499-D952-3AE1-399CD5680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8145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1764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9C9E-B025-9D7B-DA9A-2C9FB2AA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0C40F3-B1B3-34C8-CDBC-03793804F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F1CD07-0B0B-7152-7AF0-88D95609B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A65C3E-BA90-9540-B28E-B2D0CF62A3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3544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8020B-9823-F1D9-6017-F56D5C73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C18E330-80CD-739D-E009-878B19631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AD8C5E-6731-300E-80A8-93B16378D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E6B29A-1B17-791C-0429-B503DD8FB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654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10/10/2026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8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3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APT 41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 err="1"/>
              <a:t>ToughProgress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APT 41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 rtl="0"/>
            <a:r>
              <a:rPr lang="es-ES" dirty="0"/>
              <a:t>Hackers patrocinados por el Estado de  China.</a:t>
            </a:r>
          </a:p>
          <a:p>
            <a:pPr algn="just" rtl="0"/>
            <a:r>
              <a:rPr lang="es-ES" dirty="0"/>
              <a:t>Dedicados a ciberespionaje y ataque a Infraestructuras críticas.</a:t>
            </a:r>
          </a:p>
          <a:p>
            <a:pPr algn="just" rtl="0"/>
            <a:r>
              <a:rPr lang="es-ES" dirty="0"/>
              <a:t>En busca y captura del FBI.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717EA6-5A59-B2AF-2A1F-32FD66515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545" y="3135909"/>
            <a:ext cx="3729397" cy="30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pic>
        <p:nvPicPr>
          <p:cNvPr id="4" name="Marcador de contenido 3" descr="Mark Your Calendar: APT41 Innovative Tactics | Google Cloud Blog">
            <a:extLst>
              <a:ext uri="{FF2B5EF4-FFF2-40B4-BE49-F238E27FC236}">
                <a16:creationId xmlns:a16="http://schemas.microsoft.com/office/drawing/2014/main" id="{61EDEB92-7B77-DB05-3141-4E39B9943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383" y="1700808"/>
            <a:ext cx="9628057" cy="4524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F91B-7FF4-D95F-E24B-22A4971B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0EE049A-EA92-8D36-B87E-417AE1A8DCF5}"/>
              </a:ext>
            </a:extLst>
          </p:cNvPr>
          <p:cNvSpPr/>
          <p:nvPr/>
        </p:nvSpPr>
        <p:spPr>
          <a:xfrm>
            <a:off x="1884949" y="2420888"/>
            <a:ext cx="8418925" cy="3197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EE77C2-811C-1B7E-3A84-423750D7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2302AEE1-4F08-7929-550B-F6B63AE72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8979985" cy="4465320"/>
          </a:xfrm>
        </p:spPr>
        <p:txBody>
          <a:bodyPr rtlCol="0"/>
          <a:lstStyle/>
          <a:p>
            <a:pPr algn="just" rtl="0"/>
            <a:r>
              <a:rPr lang="es-ES" dirty="0"/>
              <a:t>Explotar Google Calendar como canal de comunicación C2</a:t>
            </a:r>
          </a:p>
        </p:txBody>
      </p:sp>
      <p:pic>
        <p:nvPicPr>
          <p:cNvPr id="19" name="Marcador de contenido 18">
            <a:extLst>
              <a:ext uri="{FF2B5EF4-FFF2-40B4-BE49-F238E27FC236}">
                <a16:creationId xmlns:a16="http://schemas.microsoft.com/office/drawing/2014/main" id="{DC8BFF96-2FD5-6F65-E866-EAE7784D03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884949" y="2433928"/>
            <a:ext cx="8418925" cy="3197735"/>
          </a:xfrm>
          <a:prstGeom prst="rect">
            <a:avLst/>
          </a:prstGeom>
        </p:spPr>
      </p:pic>
      <p:sp>
        <p:nvSpPr>
          <p:cNvPr id="4" name="Marcador de posición de contenido 2">
            <a:extLst>
              <a:ext uri="{FF2B5EF4-FFF2-40B4-BE49-F238E27FC236}">
                <a16:creationId xmlns:a16="http://schemas.microsoft.com/office/drawing/2014/main" id="{44BAB983-207A-D1C9-E412-08D66D3786BC}"/>
              </a:ext>
            </a:extLst>
          </p:cNvPr>
          <p:cNvSpPr txBox="1">
            <a:spLocks/>
          </p:cNvSpPr>
          <p:nvPr/>
        </p:nvSpPr>
        <p:spPr>
          <a:xfrm>
            <a:off x="1773932" y="5644703"/>
            <a:ext cx="8979985" cy="72175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i="1" dirty="0"/>
              <a:t>TTP: acceso, ejecución, persistencia, escalada y evasión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0183718-A07E-B34F-DFA9-B59BC4328531}"/>
                  </a:ext>
                </a:extLst>
              </p14:cNvPr>
              <p14:cNvContentPartPr/>
              <p14:nvPr/>
            </p14:nvContentPartPr>
            <p14:xfrm>
              <a:off x="1978577" y="3263860"/>
              <a:ext cx="754200" cy="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0183718-A07E-B34F-DFA9-B59BC43285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4577" y="3155860"/>
                <a:ext cx="861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F8FEC08-6B55-A699-8835-D53EB8DE08D8}"/>
                  </a:ext>
                </a:extLst>
              </p14:cNvPr>
              <p14:cNvContentPartPr/>
              <p14:nvPr/>
            </p14:nvContentPartPr>
            <p14:xfrm>
              <a:off x="4826537" y="3220660"/>
              <a:ext cx="542880" cy="223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F8FEC08-6B55-A699-8835-D53EB8DE08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2537" y="3113020"/>
                <a:ext cx="6505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4B222D4-E252-EB59-EB4F-56F212C7D834}"/>
                  </a:ext>
                </a:extLst>
              </p14:cNvPr>
              <p14:cNvContentPartPr/>
              <p14:nvPr/>
            </p14:nvContentPartPr>
            <p14:xfrm>
              <a:off x="7656497" y="3263860"/>
              <a:ext cx="2551320" cy="118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4B222D4-E252-EB59-EB4F-56F212C7D8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02497" y="3155860"/>
                <a:ext cx="26589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704DCBF-F226-B0FA-D79F-48EDE5BE5262}"/>
                  </a:ext>
                </a:extLst>
              </p14:cNvPr>
              <p14:cNvContentPartPr/>
              <p14:nvPr/>
            </p14:nvContentPartPr>
            <p14:xfrm>
              <a:off x="7624457" y="3338020"/>
              <a:ext cx="169560" cy="3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704DCBF-F226-B0FA-D79F-48EDE5BE52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70457" y="3230020"/>
                <a:ext cx="277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0A91D0DC-26F0-5ACE-12A2-1A37DED80E3D}"/>
                  </a:ext>
                </a:extLst>
              </p14:cNvPr>
              <p14:cNvContentPartPr/>
              <p14:nvPr/>
            </p14:nvContentPartPr>
            <p14:xfrm>
              <a:off x="7698617" y="3338020"/>
              <a:ext cx="105480" cy="3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0A91D0DC-26F0-5ACE-12A2-1A37DED80E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44977" y="3230020"/>
                <a:ext cx="213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E8F64845-2998-B07E-C2AC-7FCC870C62E4}"/>
                  </a:ext>
                </a:extLst>
              </p14:cNvPr>
              <p14:cNvContentPartPr/>
              <p14:nvPr/>
            </p14:nvContentPartPr>
            <p14:xfrm>
              <a:off x="7644977" y="3274660"/>
              <a:ext cx="159120" cy="36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E8F64845-2998-B07E-C2AC-7FCC870C62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91337" y="3166660"/>
                <a:ext cx="2667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065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163561" cy="4465320"/>
          </a:xfrm>
        </p:spPr>
        <p:txBody>
          <a:bodyPr rtlCol="0"/>
          <a:lstStyle/>
          <a:p>
            <a:pPr marL="0" indent="0" algn="just" rtl="0">
              <a:buNone/>
            </a:pPr>
            <a:r>
              <a:rPr lang="es-ES" dirty="0"/>
              <a:t>Archivo ZIP: </a:t>
            </a:r>
          </a:p>
          <a:p>
            <a:pPr algn="just" rtl="0"/>
            <a:r>
              <a:rPr lang="es-ES" dirty="0"/>
              <a:t>Acceso directo de Windows, LNK, oculto en un PDF.</a:t>
            </a:r>
          </a:p>
          <a:p>
            <a:pPr algn="just" rtl="0"/>
            <a:r>
              <a:rPr lang="es-ES" dirty="0"/>
              <a:t>Carga útil cifrada en un JPG.</a:t>
            </a:r>
          </a:p>
          <a:p>
            <a:pPr algn="just" rtl="0"/>
            <a:r>
              <a:rPr lang="es-ES" dirty="0"/>
              <a:t>DLL oculta como imagen para descifrar y ejecutar la carga útil.</a:t>
            </a:r>
          </a:p>
        </p:txBody>
      </p:sp>
      <p:graphicFrame>
        <p:nvGraphicFramePr>
          <p:cNvPr id="5" name="Marcador de posición de contenido 4" descr="Proceso escalonado en el que se muestran 3 tareas organizadas una debajo de la otra. Además, se usan dos flechas que apuntan hacia abajo para indicar la progresión de la primera tarea a la segunda y de la segunda a la tercera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67167099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7455-6739-2742-FB8F-EF60D8B1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40270-A025-8DE5-3C3E-B9003E2A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8C6CE935-9D04-2AA1-CCD1-7F1006B09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8979985" cy="4465320"/>
          </a:xfrm>
        </p:spPr>
        <p:txBody>
          <a:bodyPr rtlCol="0"/>
          <a:lstStyle/>
          <a:p>
            <a:pPr marL="0" indent="0" algn="just" rtl="0">
              <a:buNone/>
            </a:pPr>
            <a:r>
              <a:rPr lang="es-ES" dirty="0"/>
              <a:t>Mecanismo de Comando y Control:</a:t>
            </a:r>
          </a:p>
          <a:p>
            <a:pPr algn="just" rtl="0"/>
            <a:r>
              <a:rPr lang="es-ES" dirty="0"/>
              <a:t>Recepción de Comandos: Consulta fechas especificas en un calendario codificado.</a:t>
            </a:r>
          </a:p>
          <a:p>
            <a:pPr algn="just" rtl="0"/>
            <a:r>
              <a:rPr lang="es-ES" dirty="0"/>
              <a:t>Eventos Ocultos: APT41 inserta instrucciones en la descripción de eventos.</a:t>
            </a:r>
          </a:p>
          <a:p>
            <a:pPr algn="just" rtl="0"/>
            <a:r>
              <a:rPr lang="es-ES" dirty="0"/>
              <a:t>Exfiltración de Datos: Devuelve resultados en nuevos eventos del calendario.</a:t>
            </a:r>
          </a:p>
        </p:txBody>
      </p:sp>
    </p:spTree>
    <p:extLst>
      <p:ext uri="{BB962C8B-B14F-4D97-AF65-F5344CB8AC3E}">
        <p14:creationId xmlns:p14="http://schemas.microsoft.com/office/powerpoint/2010/main" val="205470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1E07-33D2-174C-5F89-EB438E06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7A8256E-AB0F-203B-2786-F7B413FE746A}"/>
              </a:ext>
            </a:extLst>
          </p:cNvPr>
          <p:cNvSpPr/>
          <p:nvPr/>
        </p:nvSpPr>
        <p:spPr>
          <a:xfrm>
            <a:off x="1625382" y="2060848"/>
            <a:ext cx="9293566" cy="3240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A55AFE-854F-216A-1C17-5A80A59A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1047DF4-C937-AED1-26A0-45E71A02DD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25382" y="2060848"/>
            <a:ext cx="9292600" cy="3240359"/>
          </a:xfrm>
          <a:prstGeom prst="rect">
            <a:avLst/>
          </a:prstGeom>
        </p:spPr>
      </p:pic>
      <p:sp>
        <p:nvSpPr>
          <p:cNvPr id="8" name="Marcador de posición de contenido 2">
            <a:extLst>
              <a:ext uri="{FF2B5EF4-FFF2-40B4-BE49-F238E27FC236}">
                <a16:creationId xmlns:a16="http://schemas.microsoft.com/office/drawing/2014/main" id="{D088774B-6CC2-59AB-557F-8C1C26E77F7F}"/>
              </a:ext>
            </a:extLst>
          </p:cNvPr>
          <p:cNvSpPr txBox="1">
            <a:spLocks/>
          </p:cNvSpPr>
          <p:nvPr/>
        </p:nvSpPr>
        <p:spPr>
          <a:xfrm>
            <a:off x="1557908" y="5371544"/>
            <a:ext cx="8979985" cy="72175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i="1" dirty="0"/>
              <a:t>TTP: credenciales, movimiento, C2, exfiltración e impacto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7E388463-CEAC-19E4-2A63-F5437B009BF6}"/>
                  </a:ext>
                </a:extLst>
              </p14:cNvPr>
              <p14:cNvContentPartPr/>
              <p14:nvPr/>
            </p14:nvContentPartPr>
            <p14:xfrm>
              <a:off x="1733057" y="4093300"/>
              <a:ext cx="1083240" cy="3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7E388463-CEAC-19E4-2A63-F5437B009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9417" y="3985300"/>
                <a:ext cx="1190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F78275D5-F599-C243-661B-66D72330F862}"/>
                  </a:ext>
                </a:extLst>
              </p14:cNvPr>
              <p14:cNvContentPartPr/>
              <p14:nvPr/>
            </p14:nvContentPartPr>
            <p14:xfrm>
              <a:off x="4848497" y="4093300"/>
              <a:ext cx="1934640" cy="324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F78275D5-F599-C243-661B-66D72330F8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94497" y="3985300"/>
                <a:ext cx="20422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CFE52019-6708-47A9-C202-E0050256E350}"/>
                  </a:ext>
                </a:extLst>
              </p14:cNvPr>
              <p14:cNvContentPartPr/>
              <p14:nvPr/>
            </p14:nvContentPartPr>
            <p14:xfrm>
              <a:off x="7931537" y="4114180"/>
              <a:ext cx="2444760" cy="3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CFE52019-6708-47A9-C202-E0050256E3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77897" y="4006540"/>
                <a:ext cx="2552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2E470EAA-C137-7C06-34E4-D70F9BD7DF34}"/>
                  </a:ext>
                </a:extLst>
              </p14:cNvPr>
              <p14:cNvContentPartPr/>
              <p14:nvPr/>
            </p14:nvContentPartPr>
            <p14:xfrm>
              <a:off x="7963577" y="4241980"/>
              <a:ext cx="2689200" cy="435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2E470EAA-C137-7C06-34E4-D70F9BD7DF3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09937" y="4134340"/>
                <a:ext cx="27968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8EE9D7EE-21AF-4067-07EE-EA3EDF7CB5AA}"/>
                  </a:ext>
                </a:extLst>
              </p14:cNvPr>
              <p14:cNvContentPartPr/>
              <p14:nvPr/>
            </p14:nvContentPartPr>
            <p14:xfrm>
              <a:off x="7996697" y="4231180"/>
              <a:ext cx="1274760" cy="3348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8EE9D7EE-21AF-4067-07EE-EA3EDF7CB5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42697" y="4123540"/>
                <a:ext cx="1382400" cy="24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454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916832"/>
            <a:ext cx="8979985" cy="4465320"/>
          </a:xfrm>
        </p:spPr>
        <p:txBody>
          <a:bodyPr rtlCol="0"/>
          <a:lstStyle/>
          <a:p>
            <a:pPr marL="0" indent="0" algn="just" rtl="0">
              <a:buNone/>
            </a:pPr>
            <a:r>
              <a:rPr lang="es-ES" dirty="0"/>
              <a:t>Evasión de Controles de Seguridad:</a:t>
            </a:r>
          </a:p>
          <a:p>
            <a:pPr algn="just" rtl="0"/>
            <a:r>
              <a:rPr lang="es-ES" dirty="0"/>
              <a:t>Las cargas útiles nunca se escriben en el disco.</a:t>
            </a:r>
          </a:p>
          <a:p>
            <a:pPr algn="just" rtl="0"/>
            <a:r>
              <a:rPr lang="es-ES" dirty="0"/>
              <a:t>La comunicación C2 ocurre a través de un servicio en la nube legítimo. </a:t>
            </a:r>
          </a:p>
          <a:p>
            <a:pPr algn="just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7F88E-DA64-0958-B343-C9EBD6D6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4EAA8CAA-1FE5-C749-222B-2EBDAF523878}"/>
              </a:ext>
            </a:extLst>
          </p:cNvPr>
          <p:cNvSpPr/>
          <p:nvPr/>
        </p:nvSpPr>
        <p:spPr>
          <a:xfrm>
            <a:off x="1625382" y="2060848"/>
            <a:ext cx="9293566" cy="3471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22A196-CDC2-A02E-CA49-36EC2111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pic>
        <p:nvPicPr>
          <p:cNvPr id="5" name="Marcador de contenido 23">
            <a:extLst>
              <a:ext uri="{FF2B5EF4-FFF2-40B4-BE49-F238E27FC236}">
                <a16:creationId xmlns:a16="http://schemas.microsoft.com/office/drawing/2014/main" id="{3BF8C00E-5420-F1AD-50A5-FE20C26632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25382" y="2060848"/>
            <a:ext cx="9293566" cy="3471025"/>
          </a:xfrm>
          <a:prstGeom prst="rect">
            <a:avLst/>
          </a:prstGeom>
        </p:spPr>
      </p:pic>
      <p:sp>
        <p:nvSpPr>
          <p:cNvPr id="8" name="Marcador de posición de contenido 2">
            <a:extLst>
              <a:ext uri="{FF2B5EF4-FFF2-40B4-BE49-F238E27FC236}">
                <a16:creationId xmlns:a16="http://schemas.microsoft.com/office/drawing/2014/main" id="{1B0DC979-01F1-51B0-12A8-321ED0E6755C}"/>
              </a:ext>
            </a:extLst>
          </p:cNvPr>
          <p:cNvSpPr txBox="1">
            <a:spLocks/>
          </p:cNvSpPr>
          <p:nvPr/>
        </p:nvSpPr>
        <p:spPr>
          <a:xfrm>
            <a:off x="1557908" y="5587568"/>
            <a:ext cx="8979985" cy="72175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i="1" dirty="0"/>
              <a:t>Malware y herramientas identificados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1CC8AC52-5C3C-F6D7-CBD2-BF1B4AE4BB37}"/>
                  </a:ext>
                </a:extLst>
              </p14:cNvPr>
              <p14:cNvContentPartPr/>
              <p14:nvPr/>
            </p14:nvContentPartPr>
            <p14:xfrm>
              <a:off x="1723337" y="3593620"/>
              <a:ext cx="1136880" cy="3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1CC8AC52-5C3C-F6D7-CBD2-BF1B4AE4BB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9337" y="3485620"/>
                <a:ext cx="1244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C5F67333-E800-9085-5889-E2137E64ECC9}"/>
                  </a:ext>
                </a:extLst>
              </p14:cNvPr>
              <p14:cNvContentPartPr/>
              <p14:nvPr/>
            </p14:nvContentPartPr>
            <p14:xfrm>
              <a:off x="4082777" y="3603700"/>
              <a:ext cx="1019880" cy="3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C5F67333-E800-9085-5889-E2137E64EC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9137" y="3496060"/>
                <a:ext cx="1127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7BF82CED-D354-75D2-6691-0F787264B7C5}"/>
                  </a:ext>
                </a:extLst>
              </p14:cNvPr>
              <p14:cNvContentPartPr/>
              <p14:nvPr/>
            </p14:nvContentPartPr>
            <p14:xfrm>
              <a:off x="6411257" y="3625300"/>
              <a:ext cx="1987200" cy="1152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7BF82CED-D354-75D2-6691-0F787264B7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57617" y="3517660"/>
                <a:ext cx="20948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100D39E4-54F6-21E4-F8D0-1507FC871112}"/>
                  </a:ext>
                </a:extLst>
              </p14:cNvPr>
              <p14:cNvContentPartPr/>
              <p14:nvPr/>
            </p14:nvContentPartPr>
            <p14:xfrm>
              <a:off x="8718497" y="3666700"/>
              <a:ext cx="1466640" cy="230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100D39E4-54F6-21E4-F8D0-1507FC8711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64497" y="3558700"/>
                <a:ext cx="1574280" cy="23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746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97E1-2A98-D836-046C-25129576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EF3D4-1C7A-D79C-E21C-887AFEA4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Malware </a:t>
            </a:r>
            <a:r>
              <a:rPr lang="es-ES" dirty="0" err="1"/>
              <a:t>ToughProgress</a:t>
            </a:r>
            <a:endParaRPr lang="es-ES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88FD582-F1F1-6B49-13A4-46DCDCEB8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916832"/>
            <a:ext cx="8979985" cy="4465320"/>
          </a:xfrm>
        </p:spPr>
        <p:txBody>
          <a:bodyPr rtlCol="0"/>
          <a:lstStyle/>
          <a:p>
            <a:pPr marL="0" indent="0" algn="just" rtl="0">
              <a:buNone/>
            </a:pPr>
            <a:r>
              <a:rPr lang="es-ES" dirty="0"/>
              <a:t>Detección y  mitigación:</a:t>
            </a:r>
          </a:p>
          <a:p>
            <a:pPr algn="just" rtl="0"/>
            <a:r>
              <a:rPr lang="es-ES" dirty="0"/>
              <a:t>Detectado por el Grupo de Inteligencia de Amenazas de Google.</a:t>
            </a:r>
          </a:p>
          <a:p>
            <a:pPr algn="just" rtl="0"/>
            <a:r>
              <a:rPr lang="es-ES" dirty="0"/>
              <a:t>Google desmantelo la infraestructura de Google Calendar y </a:t>
            </a:r>
            <a:r>
              <a:rPr lang="es-ES" dirty="0" err="1"/>
              <a:t>Workspace</a:t>
            </a:r>
            <a:r>
              <a:rPr lang="es-ES" dirty="0"/>
              <a:t> comprometidas.</a:t>
            </a:r>
          </a:p>
          <a:p>
            <a:pPr algn="just" rtl="0"/>
            <a:r>
              <a:rPr lang="es-ES" dirty="0"/>
              <a:t>Actualizo su lista de sitios bloqueados en Safe </a:t>
            </a:r>
            <a:r>
              <a:rPr lang="es-ES" dirty="0" err="1"/>
              <a:t>Browsing</a:t>
            </a:r>
            <a:r>
              <a:rPr lang="es-ES" dirty="0"/>
              <a:t>.</a:t>
            </a:r>
          </a:p>
          <a:p>
            <a:pPr algn="just" rtl="0"/>
            <a:r>
              <a:rPr lang="es-ES" dirty="0"/>
              <a:t>El tráfico desde esos sitios será bloqueado en todos los productos de Google.</a:t>
            </a:r>
          </a:p>
          <a:p>
            <a:pPr algn="just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912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124</TotalTime>
  <Words>249</Words>
  <Application>Microsoft Office PowerPoint</Application>
  <PresentationFormat>Personalizado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Tecnología 16x9</vt:lpstr>
      <vt:lpstr>APT 41</vt:lpstr>
      <vt:lpstr>APT 41</vt:lpstr>
      <vt:lpstr>Malware ToughProgress</vt:lpstr>
      <vt:lpstr>Malware ToughProgress</vt:lpstr>
      <vt:lpstr>Malware ToughProgress</vt:lpstr>
      <vt:lpstr>Malware ToughProgress</vt:lpstr>
      <vt:lpstr>Malware ToughProgress</vt:lpstr>
      <vt:lpstr>Malware ToughProgress</vt:lpstr>
      <vt:lpstr>Malware ToughProgress</vt:lpstr>
      <vt:lpstr>Malware ToughProgress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JIRÓN LUZURIAGA, MARCO JAVIER</dc:creator>
  <cp:lastModifiedBy>JIRÓN LUZURIAGA, MARCO JAVIER</cp:lastModifiedBy>
  <cp:revision>11</cp:revision>
  <dcterms:created xsi:type="dcterms:W3CDTF">2026-10-09T22:53:55Z</dcterms:created>
  <dcterms:modified xsi:type="dcterms:W3CDTF">2026-10-10T00:58:46Z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